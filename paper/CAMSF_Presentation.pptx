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2A0F-8A62-66FD-A4C5-827D39B3A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C080E-F266-AE3A-420D-F7CCFA4C5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9E71-6508-5690-6F46-68975881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D601E-0380-BB79-80DB-B14AF5B0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B05D8-A206-DB0A-A3C7-7C666D8D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8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228-F164-6FE9-40F6-62AFB193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88011-1D81-B0FC-A942-D1617A5A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5348F-F9F3-49E3-66DA-1F661BCA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E10B-A497-1CF0-E020-C261C1F4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D2206-DC93-8172-1119-753FA582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58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6BD8-1C14-97B5-E49E-0DD967CC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019D3-A99D-F53A-E63A-F049DA834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C0FDE-10A1-209C-218A-72AE6E1B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1658C-B942-903C-8E17-BF26C621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C2FFB-7962-9F43-13B1-27802B16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4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FECF-ED1E-3888-97A6-585116BE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840-D209-D9E3-2962-98688DF0F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A7C0D-40E6-7771-AFDB-33A61645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E27BB-6C40-1EE4-CE8E-6CCD41D7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7DCE0-265A-BBAF-9206-8A83A560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24E97-08BE-8BBA-6D69-0C0FF13A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07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613FB-7EF5-5D1D-ADF4-4A546095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25007-4245-F805-1697-1AB94A435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2D321-E1A0-2DE7-486E-8AF65C234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C266A-58EB-F600-562C-27AF55060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A6CC2-08BB-76E9-E6AA-589812140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B97E5-3D01-00A2-740D-2F419DB3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9BF9B-3F04-2200-4185-BE53654A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82444-9B69-BD59-5E4B-88C7441B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7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86EA-1D59-13A8-6404-00E41062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8E138-DC04-1B57-3844-350E5A60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4B6F8-BCED-19BC-837E-6C1DD011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CF41E-6C76-E810-4281-064ACDF0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7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FF799-68A8-CE5E-3547-09DAF4F9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3DA29-692F-7149-5FA9-3D88624E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4DE19-5402-3C6F-A0E3-D8374768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2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AAF8-57B2-0D3D-684F-87763618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F11D-2176-9463-4C6D-013F13D28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E832-E613-C1B1-EC48-245853A84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4EDF-AD98-09CC-82F6-A151B1A3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7DFD8-7402-826C-2632-FB117CCD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88C37-B806-6FEE-19DE-55B5B3BA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3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D7A7-D707-3004-C6E0-E900884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EB83E-9CEC-7220-54EA-4FB4D0610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997A9-AE1A-4669-8A28-2C4CBA21C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25CF8-9347-475F-6360-124E2C02A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46758-DA18-6628-7B91-F6C9920F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8773D-CEDA-14C9-D8F0-16B13827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1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2A46-608F-ED68-E8C6-BE8EA8C6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8C1AF-8228-886B-BA8F-844678B1B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3BCE6-C3CF-3CC6-EF66-68F45552C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4668A-5415-E1AD-A5B2-91223FCF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659F-5C1D-A5FE-64C5-93378B41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0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EF36A-3EEE-8534-EAF5-230230981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2AE65-0739-7398-2AEE-548B940AC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14A4B-6FDC-D0E8-3D6C-9976CD661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EC3B1-7DA4-AB86-AEC8-53D2C120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0EF73-78E2-E46D-51F0-C72B534C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01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254B1-D95B-65D8-F184-C98C1E15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B1C80-1622-373A-704A-4A4D7737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AE19F-F0CD-88C4-39D5-E412EE913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0E038-38C1-40FB-9A04-FA9A1F4A9BE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66B0C-C0DE-D595-428A-44FEC5343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83A69-A6A6-E20E-1DAA-AB9CA7153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2CA3F-ADA0-4BA8-8695-B92E9C0D8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3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13198-025-02864-8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vlibs.net/datasets/kitti/raw_data.php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7C29-9072-8C72-AB13-87D7B1A7D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390" y="699715"/>
            <a:ext cx="9144000" cy="900485"/>
          </a:xfrm>
        </p:spPr>
        <p:txBody>
          <a:bodyPr>
            <a:noAutofit/>
          </a:bodyPr>
          <a:lstStyle/>
          <a:p>
            <a:r>
              <a:rPr lang="en-IN" sz="2800" b="1" dirty="0"/>
              <a:t>Confidence-Driven Adaptive Multi-Sensor Fusion Framework for Robust Autonomous Vehicle Localization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8C669-BB9E-6D1A-960E-3E51788CC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390" y="2500684"/>
            <a:ext cx="6578379" cy="3846443"/>
          </a:xfrm>
        </p:spPr>
        <p:txBody>
          <a:bodyPr/>
          <a:lstStyle/>
          <a:p>
            <a:pPr algn="l"/>
            <a:r>
              <a:rPr lang="en-IN" b="1" dirty="0"/>
              <a:t>Presented by:</a:t>
            </a:r>
            <a:br>
              <a:rPr lang="en-IN" dirty="0"/>
            </a:br>
            <a:r>
              <a:rPr lang="en-IN" b="1" dirty="0"/>
              <a:t>K. Vishwa</a:t>
            </a:r>
            <a:br>
              <a:rPr lang="en-IN" dirty="0"/>
            </a:br>
            <a:r>
              <a:rPr lang="en-IN" dirty="0"/>
              <a:t>Roll No : </a:t>
            </a:r>
            <a:r>
              <a:rPr lang="en-IN" b="1" dirty="0"/>
              <a:t>23261A0590	</a:t>
            </a:r>
          </a:p>
          <a:p>
            <a:pPr algn="l"/>
            <a:r>
              <a:rPr lang="en-IN" b="1" dirty="0"/>
              <a:t>Under the Guidance of:</a:t>
            </a:r>
            <a:br>
              <a:rPr lang="en-IN" dirty="0"/>
            </a:br>
            <a:r>
              <a:rPr lang="en-IN" b="1" dirty="0"/>
              <a:t>Dr. P. Poornima</a:t>
            </a:r>
          </a:p>
          <a:p>
            <a:pPr algn="l"/>
            <a:r>
              <a:rPr lang="en-IN" b="1" dirty="0"/>
              <a:t>Department of Computer Science and Engineering</a:t>
            </a:r>
            <a:br>
              <a:rPr lang="en-IN" dirty="0"/>
            </a:br>
            <a:r>
              <a:rPr lang="en-IN" b="1" dirty="0"/>
              <a:t>Mahatma Gandhi Institute of Technology (MGIT)</a:t>
            </a:r>
            <a:br>
              <a:rPr lang="en-IN" dirty="0"/>
            </a:br>
            <a:r>
              <a:rPr lang="en-IN" dirty="0"/>
              <a:t>Hyderabad, Telangana, India</a:t>
            </a:r>
          </a:p>
        </p:txBody>
      </p:sp>
    </p:spTree>
    <p:extLst>
      <p:ext uri="{BB962C8B-B14F-4D97-AF65-F5344CB8AC3E}">
        <p14:creationId xmlns:p14="http://schemas.microsoft.com/office/powerpoint/2010/main" val="332268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7474-B0FE-DDB1-E0BC-78BB849A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6A825-F4F9-AAA6-5415-C8CB0AAD8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624"/>
            <a:ext cx="10515600" cy="480933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Autonomous vehicles require </a:t>
            </a:r>
            <a:r>
              <a:rPr lang="en-IN" b="1" dirty="0"/>
              <a:t>accurate and reliable localization</a:t>
            </a:r>
            <a:r>
              <a:rPr lang="en-IN" dirty="0"/>
              <a:t> for navigation, trajectory planning, obstacle avoidance, and motion control. </a:t>
            </a:r>
          </a:p>
          <a:p>
            <a:pPr lvl="0"/>
            <a:r>
              <a:rPr lang="en-IN" dirty="0"/>
              <a:t>Modern vehicles use heterogeneous sensors such as: </a:t>
            </a:r>
          </a:p>
          <a:p>
            <a:pPr lvl="1"/>
            <a:r>
              <a:rPr lang="en-IN" b="1" dirty="0"/>
              <a:t>Camera</a:t>
            </a:r>
            <a:r>
              <a:rPr lang="en-IN" dirty="0"/>
              <a:t> — provides rich visual information. </a:t>
            </a:r>
          </a:p>
          <a:p>
            <a:pPr lvl="1"/>
            <a:r>
              <a:rPr lang="en-IN" b="1" dirty="0"/>
              <a:t>GPS</a:t>
            </a:r>
            <a:r>
              <a:rPr lang="en-IN" dirty="0"/>
              <a:t> — provides absolute positioning. </a:t>
            </a:r>
          </a:p>
          <a:p>
            <a:pPr lvl="1"/>
            <a:r>
              <a:rPr lang="en-IN" b="1" dirty="0"/>
              <a:t>IMU</a:t>
            </a:r>
            <a:r>
              <a:rPr lang="en-IN" dirty="0"/>
              <a:t> — provides high-frequency motion measurements. </a:t>
            </a:r>
          </a:p>
          <a:p>
            <a:pPr lvl="0"/>
            <a:r>
              <a:rPr lang="en-IN" dirty="0"/>
              <a:t>Sensor performance is not constant during real-world driving. </a:t>
            </a:r>
          </a:p>
          <a:p>
            <a:pPr lvl="0"/>
            <a:r>
              <a:rPr lang="en-IN" dirty="0"/>
              <a:t>Camera, GPS, and IMU can independently degrade because of: </a:t>
            </a:r>
          </a:p>
          <a:p>
            <a:pPr lvl="1"/>
            <a:r>
              <a:rPr lang="en-IN" dirty="0"/>
              <a:t>Poor illumination and motion blur </a:t>
            </a:r>
          </a:p>
          <a:p>
            <a:pPr lvl="1"/>
            <a:r>
              <a:rPr lang="en-IN" dirty="0"/>
              <a:t>GPS signal degradation and outages </a:t>
            </a:r>
          </a:p>
          <a:p>
            <a:pPr lvl="1"/>
            <a:r>
              <a:rPr lang="en-IN" dirty="0"/>
              <a:t>IMU noise, vibration, and drift </a:t>
            </a:r>
          </a:p>
          <a:p>
            <a:pPr lvl="0"/>
            <a:r>
              <a:rPr lang="en-IN" dirty="0"/>
              <a:t>Conventional fusion techniques commonly rely on </a:t>
            </a:r>
            <a:r>
              <a:rPr lang="en-IN" b="1" dirty="0"/>
              <a:t>fixed sensor weights or predefined covariance models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22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8B18-E4BB-2742-84F1-298C4AD2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 &amp; 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E294C-374E-6BC2-BFE0-249F142AA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pPr lvl="1"/>
            <a:r>
              <a:rPr lang="en-IN" dirty="0"/>
              <a:t>Conventional multi-sensor localization methods may perform poorly when one or more sensors become temporarily unreliable because they generally use </a:t>
            </a:r>
            <a:r>
              <a:rPr lang="en-IN" b="1" dirty="0"/>
              <a:t>fixed weights or fixed uncertainty models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Research Gap</a:t>
            </a:r>
          </a:p>
          <a:p>
            <a:pPr lvl="1"/>
            <a:r>
              <a:rPr lang="en-IN" dirty="0"/>
              <a:t>Existing approaches often:</a:t>
            </a:r>
          </a:p>
          <a:p>
            <a:pPr lvl="1"/>
            <a:r>
              <a:rPr lang="en-IN" dirty="0"/>
              <a:t>Do not explicitly assess the quality of </a:t>
            </a:r>
            <a:r>
              <a:rPr lang="en-IN" b="1" dirty="0"/>
              <a:t>camera, GPS, and IMU simultaneously before fusion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Use predefined sensor weights that cannot respond effectively to changing sensor reliability. </a:t>
            </a:r>
          </a:p>
          <a:p>
            <a:pPr lvl="1"/>
            <a:r>
              <a:rPr lang="en-IN" dirty="0"/>
              <a:t>Adapt uncertainty mainly within the filtering stage rather than through a unified sensor-confidence framework. </a:t>
            </a:r>
          </a:p>
          <a:p>
            <a:pPr lvl="1"/>
            <a:r>
              <a:rPr lang="en-IN" dirty="0"/>
              <a:t>Provide a position estimate without explicitly predicting </a:t>
            </a:r>
            <a:r>
              <a:rPr lang="en-IN" b="1" dirty="0"/>
              <a:t>how reliable that localization estimate is</a:t>
            </a:r>
            <a:r>
              <a:rPr lang="en-IN" dirty="0"/>
              <a:t>. </a:t>
            </a:r>
          </a:p>
          <a:p>
            <a:pPr marL="0" indent="0">
              <a:buNone/>
            </a:pPr>
            <a:r>
              <a:rPr lang="en-IN" b="1" dirty="0"/>
              <a:t>Proposed Solution</a:t>
            </a:r>
          </a:p>
          <a:p>
            <a:pPr lvl="1"/>
            <a:r>
              <a:rPr lang="en-IN" b="1" dirty="0"/>
              <a:t>Sensor Quality Assessment → SCI → Adaptive Weighting → Confidence-Driven Fusion → AEKF → Localization Reliability Prediction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61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4935-7649-5341-88C9-0AF6E07F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D6DF8-5213-650A-6B9D-0341BA311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Develop a unified Sensor Confidence Index (SCI)</a:t>
            </a:r>
            <a:r>
              <a:rPr lang="en-IN" dirty="0"/>
              <a:t> to quantify the reliability of Camera, GPS, and IMU measurements. </a:t>
            </a:r>
          </a:p>
          <a:p>
            <a:pPr lvl="0"/>
            <a:r>
              <a:rPr lang="en-IN" b="1" dirty="0"/>
              <a:t>Develop adaptive sensor weighting</a:t>
            </a:r>
            <a:r>
              <a:rPr lang="en-IN" dirty="0"/>
              <a:t> so that reliable sensors receive greater influence while degraded sensors are automatically down-weighted. </a:t>
            </a:r>
          </a:p>
          <a:p>
            <a:pPr lvl="0"/>
            <a:r>
              <a:rPr lang="en-IN" b="1" dirty="0"/>
              <a:t>Develop a confidence-aware Adaptive Extended Kalman Filter (AEKF)</a:t>
            </a:r>
            <a:r>
              <a:rPr lang="en-IN" dirty="0"/>
              <a:t> to improve localization robustness under changing sensing conditions and GPS degradation. </a:t>
            </a:r>
          </a:p>
          <a:p>
            <a:pPr lvl="0"/>
            <a:r>
              <a:rPr lang="en-IN" b="1" dirty="0"/>
              <a:t>Develop a machine-learning-based localization reliability prediction module</a:t>
            </a:r>
            <a:r>
              <a:rPr lang="en-IN" dirty="0"/>
              <a:t> to predict localization error using confidence-aware features.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38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9EFC-A453-030F-E564-1F8F70CF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Base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8346-CB08-6071-38BC-3FAFC17F2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Paper Title</a:t>
            </a:r>
          </a:p>
          <a:p>
            <a:pPr lvl="1"/>
            <a:r>
              <a:rPr lang="en-IN" b="1" dirty="0"/>
              <a:t>Mitigating GPS Spoofing in AVS: SHA and RSA Algorithms with Proteus Simulation for Real-Time Detection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Authors &amp; Year</a:t>
            </a:r>
          </a:p>
          <a:p>
            <a:pPr lvl="1"/>
            <a:r>
              <a:rPr lang="en-IN" b="1" dirty="0"/>
              <a:t>B. Poornima — 2025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Base Paper URL</a:t>
            </a:r>
          </a:p>
          <a:p>
            <a:pPr lvl="1"/>
            <a:r>
              <a:rPr lang="en-IN" dirty="0">
                <a:hlinkClick r:id="rId2"/>
              </a:rPr>
              <a:t>https://doi.org/10.1007/s13198-025-02864-8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Key Idea / Contribution</a:t>
            </a:r>
          </a:p>
          <a:p>
            <a:pPr lvl="1"/>
            <a:r>
              <a:rPr lang="en-IN" dirty="0"/>
              <a:t>Proposes a </a:t>
            </a:r>
            <a:r>
              <a:rPr lang="en-IN" b="1" dirty="0"/>
              <a:t>GPS spoofing detection and mitigation framework</a:t>
            </a:r>
            <a:r>
              <a:rPr lang="en-IN" dirty="0"/>
              <a:t> for Autonomous Vehicular Systems. </a:t>
            </a:r>
          </a:p>
          <a:p>
            <a:pPr lvl="1"/>
            <a:r>
              <a:rPr lang="en-IN" dirty="0"/>
              <a:t>Uses </a:t>
            </a:r>
            <a:r>
              <a:rPr lang="en-IN" b="1" dirty="0"/>
              <a:t>PDOP, HDOP, and VDOP</a:t>
            </a:r>
            <a:r>
              <a:rPr lang="en-IN" dirty="0"/>
              <a:t> GPS features for spoofing detection. </a:t>
            </a:r>
          </a:p>
          <a:p>
            <a:pPr lvl="1"/>
            <a:r>
              <a:rPr lang="en-IN" dirty="0"/>
              <a:t>Employs </a:t>
            </a:r>
            <a:r>
              <a:rPr lang="en-IN" b="1" dirty="0"/>
              <a:t>Extra Trees Regressor</a:t>
            </a:r>
            <a:r>
              <a:rPr lang="en-IN" dirty="0"/>
              <a:t> for machine-learning-based analysis. </a:t>
            </a:r>
          </a:p>
          <a:p>
            <a:pPr lvl="1"/>
            <a:r>
              <a:rPr lang="en-IN" dirty="0"/>
              <a:t>Uses an </a:t>
            </a:r>
            <a:r>
              <a:rPr lang="en-IN" b="1" dirty="0"/>
              <a:t>MPU6050 accelerometer–gyroscope</a:t>
            </a:r>
            <a:r>
              <a:rPr lang="en-IN" dirty="0"/>
              <a:t> to cross-verify GPS information. </a:t>
            </a:r>
          </a:p>
          <a:p>
            <a:pPr lvl="1"/>
            <a:r>
              <a:rPr lang="en-IN" dirty="0"/>
              <a:t>Applies </a:t>
            </a:r>
            <a:r>
              <a:rPr lang="en-IN" b="1" dirty="0"/>
              <a:t>SHA-256 hashing and RSA encryption</a:t>
            </a:r>
            <a:r>
              <a:rPr lang="en-IN" dirty="0"/>
              <a:t> to protect GPS data integrity and security. </a:t>
            </a:r>
          </a:p>
          <a:p>
            <a:pPr lvl="1"/>
            <a:r>
              <a:rPr lang="en-IN" dirty="0"/>
              <a:t>Provides </a:t>
            </a:r>
            <a:r>
              <a:rPr lang="en-IN" b="1" dirty="0"/>
              <a:t>real-time alerts</a:t>
            </a:r>
            <a:r>
              <a:rPr lang="en-IN" dirty="0"/>
              <a:t> through LED and GSM when spoofing is detected.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75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2903-95B1-4811-BE62-47060975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7265-B955-8734-6306-BBD75824B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430"/>
            <a:ext cx="10515600" cy="477753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b="1" dirty="0"/>
              <a:t>Dataset Name:</a:t>
            </a:r>
            <a:r>
              <a:rPr lang="en-IN" dirty="0"/>
              <a:t> KITTI Raw Dataset </a:t>
            </a:r>
          </a:p>
          <a:p>
            <a:pPr marL="0" lvl="0" indent="0">
              <a:buNone/>
            </a:pPr>
            <a:r>
              <a:rPr lang="en-IN" b="1" dirty="0"/>
              <a:t>Source:</a:t>
            </a:r>
            <a:r>
              <a:rPr lang="en-IN" dirty="0"/>
              <a:t> Karlsruhe Institute of Technology (KIT) &amp; Toyota Technological Institute at Chicago (TTIC) </a:t>
            </a:r>
          </a:p>
          <a:p>
            <a:pPr marL="0" lvl="0" indent="0">
              <a:buNone/>
            </a:pPr>
            <a:r>
              <a:rPr lang="en-IN" b="1" dirty="0"/>
              <a:t>Size:</a:t>
            </a:r>
            <a:r>
              <a:rPr lang="en-IN" dirty="0"/>
              <a:t> </a:t>
            </a:r>
            <a:r>
              <a:rPr lang="en-IN" b="1" dirty="0"/>
              <a:t>2,472 synchronized frames</a:t>
            </a:r>
            <a:r>
              <a:rPr lang="en-IN" dirty="0"/>
              <a:t> from </a:t>
            </a:r>
            <a:r>
              <a:rPr lang="en-IN" b="1" dirty="0"/>
              <a:t>9 driving sequences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b="1" dirty="0"/>
              <a:t>Features / Input:</a:t>
            </a:r>
            <a:r>
              <a:rPr lang="en-IN" dirty="0"/>
              <a:t> Camera images, GPS, IMU, and OXTS navigation measurements </a:t>
            </a:r>
          </a:p>
          <a:p>
            <a:pPr marL="0" lvl="0" indent="0">
              <a:buNone/>
            </a:pPr>
            <a:r>
              <a:rPr lang="en-IN" b="1" dirty="0"/>
              <a:t>Type of Data:</a:t>
            </a:r>
            <a:r>
              <a:rPr lang="en-IN" dirty="0"/>
              <a:t> Synchronized </a:t>
            </a:r>
            <a:r>
              <a:rPr lang="en-IN" b="1" dirty="0"/>
              <a:t>multimodal autonomous-driving sensor data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b="1" dirty="0"/>
              <a:t>Dataset URL: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KITTI Raw Data</a:t>
            </a:r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8484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6D88-44A6-2913-02A2-459F9D1A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9F3A-F95C-3660-1676-25BA1B49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063"/>
            <a:ext cx="10515600" cy="543869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[1] B. Poornima and L. S. Kumari, “Mitigating GPS spoofing in AVS: SHA and RSA algorithms with Proteus simulation for real-time detection,” </a:t>
            </a:r>
            <a:r>
              <a:rPr lang="en-IN" sz="2900" i="1" dirty="0"/>
              <a:t>International Journal of System Assurance Engineering and Management</a:t>
            </a:r>
            <a:r>
              <a:rPr lang="en-IN" sz="2900" dirty="0"/>
              <a:t>, 2025,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10.1007/s13198-025-02864-8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[2] M. Jiang, Z. Chu, Y. Pan, H. Yuan, Q. Han, J. Zou, Y. Zhang, X. Zhu, C. Zhang, X. Zhou, W. Lou, and Z. Wang, “Multi-sensor fusion on autonomous driving perception: A comprehensive survey,” </a:t>
            </a:r>
            <a:r>
              <a:rPr lang="en-IN" sz="2900" i="1" dirty="0"/>
              <a:t>Multimodal Transportation</a:t>
            </a:r>
            <a:r>
              <a:rPr lang="en-IN" sz="2900" dirty="0"/>
              <a:t>, vol. 5, Art. no. 100325, 2026,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10.1016/j.multra.2026.100325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[3] H. Qian, M. Wang, M. Zhu, and H. Wang, “A review of multi-sensor fusion in autonomous driving,” </a:t>
            </a:r>
            <a:r>
              <a:rPr lang="en-IN" sz="2900" i="1" dirty="0"/>
              <a:t>Sensors</a:t>
            </a:r>
            <a:r>
              <a:rPr lang="en-IN" sz="2900" dirty="0"/>
              <a:t>, vol. 25, no. 19, Art. no. 6033, 2025,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10.3390/s25196033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[4] C. Wei, Z. Qin, Z. Zhang, G. Wu, and M. J. Barth, “Integrating multi-modal sensors: A review of fusion techniques for intelligent vehicles,” </a:t>
            </a:r>
            <a:r>
              <a:rPr lang="en-IN" sz="2900" i="1" dirty="0"/>
              <a:t>IEEE Open Journal of Intelligent Transportation Systems</a:t>
            </a:r>
            <a:r>
              <a:rPr lang="en-IN" sz="2900" dirty="0"/>
              <a:t>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[5] D. Kumar and N. Muhammad, “A survey on localization for autonomous vehicles,” </a:t>
            </a:r>
            <a:r>
              <a:rPr lang="en-IN" sz="2900" i="1" dirty="0"/>
              <a:t>IEEE Access</a:t>
            </a:r>
            <a:r>
              <a:rPr lang="en-IN" sz="2900" dirty="0"/>
              <a:t>, vol. 11, pp. 122276–122294, 2023,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10.1109/ACCESS.2023.3326069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[6] Z. Wang, Y. Wu, and Q. Niu, “Multi-sensor fusion in automated driving: A survey,” </a:t>
            </a:r>
            <a:r>
              <a:rPr lang="en-IN" sz="2900" i="1" dirty="0"/>
              <a:t>IEEE Access</a:t>
            </a:r>
            <a:r>
              <a:rPr lang="en-IN" sz="2900" dirty="0"/>
              <a:t>, vol. 8, pp. 2847–2868, 2020,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10.1109/ACCESS.2019.2962554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[7] S. Wang, J. Wang, C. Wang, X. </a:t>
            </a:r>
            <a:r>
              <a:rPr lang="en-IN" sz="2900" dirty="0" err="1"/>
              <a:t>Lv</a:t>
            </a:r>
            <a:r>
              <a:rPr lang="en-IN" sz="2900" dirty="0"/>
              <a:t>, and X. Wang, “Robust GNSS/INS hybrid integration based on multi-state validation of GNSS measurements,” </a:t>
            </a:r>
            <a:r>
              <a:rPr lang="en-IN" sz="2900" i="1" dirty="0"/>
              <a:t>IEEE Transactions on Intelligent Transportation Systems</a:t>
            </a:r>
            <a:r>
              <a:rPr lang="en-IN" sz="2900" dirty="0"/>
              <a:t>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[8] Y. Hou, L. Cheng, Y. Ke, et al., “The INS/GPS integrated navigation based on autonomous underwater vehicle using modified extended Kalman filter,” </a:t>
            </a:r>
            <a:r>
              <a:rPr lang="en-IN" sz="2900" i="1" dirty="0"/>
              <a:t>Transactions of the Institute of Measurement and Control</a:t>
            </a:r>
            <a:r>
              <a:rPr lang="en-IN" sz="2900" dirty="0"/>
              <a:t>, vol. 48, no. 3, 2024, </a:t>
            </a:r>
            <a:r>
              <a:rPr lang="en-IN" sz="2900" dirty="0" err="1"/>
              <a:t>doi</a:t>
            </a:r>
            <a:r>
              <a:rPr lang="en-IN" sz="2900" dirty="0"/>
              <a:t>: </a:t>
            </a:r>
            <a:r>
              <a:rPr lang="en-IN" sz="2900" b="1" dirty="0"/>
              <a:t>10.1177/01423312241288643</a:t>
            </a:r>
            <a:r>
              <a:rPr lang="en-IN" sz="29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900" dirty="0"/>
              <a:t>[9] U. C. Onyema and S. Mahmoud, “Enhancing GPS/IMU localization accuracy in autonomous vehicles through deep learning-based error correction models,” IEEE, 2024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95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3242B-36F5-81DB-FC17-A873829F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977"/>
            <a:ext cx="10515600" cy="6009986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[10] V. </a:t>
            </a:r>
            <a:r>
              <a:rPr lang="en-IN" sz="5600" dirty="0" err="1"/>
              <a:t>Cánepa</a:t>
            </a:r>
            <a:r>
              <a:rPr lang="en-IN" sz="5600" dirty="0"/>
              <a:t>, P. </a:t>
            </a:r>
            <a:r>
              <a:rPr lang="en-IN" sz="5600" dirty="0" err="1"/>
              <a:t>Servidia</a:t>
            </a:r>
            <a:r>
              <a:rPr lang="en-IN" sz="5600" dirty="0"/>
              <a:t>, and J. Giribet, “Adaptive extended Kalman filter for integrated navigation in a satellite launch vehicle,” IEEE,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[11] I. </a:t>
            </a:r>
            <a:r>
              <a:rPr lang="en-IN" sz="5600" dirty="0" err="1"/>
              <a:t>Khairullin</a:t>
            </a:r>
            <a:r>
              <a:rPr lang="en-IN" sz="5600" dirty="0"/>
              <a:t>, “Adaptive EKF SLAM with semantic landmark typing for robust navigation of highly automated vehicles,” IEEE,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[12] N. </a:t>
            </a:r>
            <a:r>
              <a:rPr lang="en-IN" sz="5600" dirty="0" err="1"/>
              <a:t>Kalakunnath</a:t>
            </a:r>
            <a:r>
              <a:rPr lang="en-IN" sz="5600" dirty="0"/>
              <a:t>, A. Varghese, A. P. Anuradha, and D. K. Girish, “Advances in deep learning for autonomous vehicle perception: A comprehensive review,”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[13] X. Zhang, Y. Li, et al., “Image-guided outdoor LiDAR perception quality assessment for autonomous driving,” </a:t>
            </a:r>
            <a:r>
              <a:rPr lang="en-IN" sz="5600" i="1" dirty="0"/>
              <a:t>IEEE Transactions on Intelligent Vehicles</a:t>
            </a:r>
            <a:r>
              <a:rPr lang="en-IN" sz="5600" dirty="0"/>
              <a:t>, vol. 10, no. 9, pp. 4455–4466, 2024, </a:t>
            </a:r>
            <a:r>
              <a:rPr lang="en-IN" sz="5600" dirty="0" err="1"/>
              <a:t>doi</a:t>
            </a:r>
            <a:r>
              <a:rPr lang="en-IN" sz="5600" dirty="0"/>
              <a:t>: </a:t>
            </a:r>
            <a:r>
              <a:rPr lang="en-IN" sz="5600" b="1" dirty="0"/>
              <a:t>10.1109/TIV.2024.3485004</a:t>
            </a:r>
            <a:r>
              <a:rPr lang="en-IN" sz="56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[14] K. Rajeswari, S. R. </a:t>
            </a:r>
            <a:r>
              <a:rPr lang="en-IN" sz="5600" dirty="0" err="1"/>
              <a:t>Vispute</a:t>
            </a:r>
            <a:r>
              <a:rPr lang="en-IN" sz="5600" dirty="0"/>
              <a:t>, J. Gupta, K. </a:t>
            </a:r>
            <a:r>
              <a:rPr lang="en-IN" sz="5600" dirty="0" err="1"/>
              <a:t>Dhadwad</a:t>
            </a:r>
            <a:r>
              <a:rPr lang="en-IN" sz="5600" dirty="0"/>
              <a:t>, R. </a:t>
            </a:r>
            <a:r>
              <a:rPr lang="en-IN" sz="5600" dirty="0" err="1"/>
              <a:t>Ghuge</a:t>
            </a:r>
            <a:r>
              <a:rPr lang="en-IN" sz="5600" dirty="0"/>
              <a:t>, and M. Ashwin, “Image quality analysis and verification for vehicle photos using deep learning,” IEEE,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[15] P. Geneva, K. </a:t>
            </a:r>
            <a:r>
              <a:rPr lang="en-IN" sz="5600" dirty="0" err="1"/>
              <a:t>Eckenhoff</a:t>
            </a:r>
            <a:r>
              <a:rPr lang="en-IN" sz="5600" dirty="0"/>
              <a:t>, W. Lee, Y. Yang, and G. Huang, “</a:t>
            </a:r>
            <a:r>
              <a:rPr lang="en-IN" sz="5600" dirty="0" err="1"/>
              <a:t>OpenVINS</a:t>
            </a:r>
            <a:r>
              <a:rPr lang="en-IN" sz="5600" dirty="0"/>
              <a:t>: A research platform for visual-inertial estimation,” in </a:t>
            </a:r>
            <a:r>
              <a:rPr lang="en-IN" sz="5600" i="1" dirty="0"/>
              <a:t>Proc. IEEE Int. Conf. Robotics and Automation (ICRA)</a:t>
            </a:r>
            <a:r>
              <a:rPr lang="en-IN" sz="5600" dirty="0"/>
              <a:t>, 2020, </a:t>
            </a:r>
            <a:r>
              <a:rPr lang="en-IN" sz="5600" dirty="0" err="1"/>
              <a:t>doi</a:t>
            </a:r>
            <a:r>
              <a:rPr lang="en-IN" sz="5600" dirty="0"/>
              <a:t>: </a:t>
            </a:r>
            <a:r>
              <a:rPr lang="en-IN" sz="5600" b="1" dirty="0"/>
              <a:t>10.1109/ICRA40945.2020.9196524</a:t>
            </a:r>
            <a:r>
              <a:rPr lang="en-IN" sz="56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[16] S. Park and S. Han, “ROFT-VINS: Robust feature tracking-based visual-inertial state estimation for harsh environment,” </a:t>
            </a:r>
            <a:r>
              <a:rPr lang="en-IN" sz="5600" i="1" dirty="0" err="1"/>
              <a:t>arXiv</a:t>
            </a:r>
            <a:r>
              <a:rPr lang="en-IN" sz="5600" i="1" dirty="0"/>
              <a:t> preprint</a:t>
            </a:r>
            <a:r>
              <a:rPr lang="en-IN" sz="5600" dirty="0"/>
              <a:t>, 2026.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[17] C. Jiang, M. Zhang, Y. Wang, and A. Zhang, “AHMOT: Adaptive Kalman filtering and hierarchical data association for 3-D </a:t>
            </a:r>
            <a:r>
              <a:rPr lang="en-IN" sz="5600" dirty="0" err="1"/>
              <a:t>multiobject</a:t>
            </a:r>
            <a:r>
              <a:rPr lang="en-IN" sz="5600" dirty="0"/>
              <a:t> tracking in IoT-enabled autonomous vehicles,” IEEE,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[18] R. Sun, Y. Dai, and Q. Cheng, “Adaptive sensor weighting in multi-sensor navigation,” IEEE, 2023.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[19] I. K. Nti, E. Nyarko-Boateng, E. </a:t>
            </a:r>
            <a:r>
              <a:rPr lang="en-IN" sz="5600" dirty="0" err="1"/>
              <a:t>Ayidzoe</a:t>
            </a:r>
            <a:r>
              <a:rPr lang="en-IN" sz="5600" dirty="0"/>
              <a:t>, and E. N. Osae, “An optimized ensemble model for predicting average localization error of wireless sensor networks,” </a:t>
            </a:r>
            <a:r>
              <a:rPr lang="en-IN" sz="5600" i="1" dirty="0"/>
              <a:t>Scientific African</a:t>
            </a:r>
            <a:r>
              <a:rPr lang="en-IN" sz="5600" dirty="0"/>
              <a:t>, vol. 27, Art. no. e02561, 2024, </a:t>
            </a:r>
            <a:r>
              <a:rPr lang="en-IN" sz="5600" dirty="0" err="1"/>
              <a:t>doi</a:t>
            </a:r>
            <a:r>
              <a:rPr lang="en-IN" sz="5600" dirty="0"/>
              <a:t>: </a:t>
            </a:r>
            <a:r>
              <a:rPr lang="en-IN" sz="5600" b="1" dirty="0"/>
              <a:t>10.1016/j.sciaf.2024.e02561</a:t>
            </a:r>
            <a:r>
              <a:rPr lang="en-IN" sz="56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5600" dirty="0"/>
              <a:t>[20] K. Matsumoto, E. Javanmardi, J. Nakazato, and M. Tsukada, “Localizability estimation for autonomous driving: A deep learning-based place recognition approach,” in </a:t>
            </a:r>
            <a:r>
              <a:rPr lang="en-IN" sz="5600" i="1" dirty="0"/>
              <a:t>Proc. 2023 Seventh IEEE International Conference on Robotic Computing (IRC)</a:t>
            </a:r>
            <a:r>
              <a:rPr lang="en-IN" sz="5600" dirty="0"/>
              <a:t>, Laguna Hills, CA, USA, 2023, pp. 280–283, </a:t>
            </a:r>
            <a:r>
              <a:rPr lang="en-IN" sz="5600" dirty="0" err="1"/>
              <a:t>doi</a:t>
            </a:r>
            <a:r>
              <a:rPr lang="en-IN" sz="5600" dirty="0"/>
              <a:t>: </a:t>
            </a:r>
            <a:r>
              <a:rPr lang="en-IN" sz="5600" b="1" dirty="0"/>
              <a:t>10.1109/IRC59093.2023.00052</a:t>
            </a:r>
            <a:r>
              <a:rPr lang="en-IN" sz="5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21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DD65-0505-7FB7-5DC2-94D08FCD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7418-4050-5124-84AB-77887A8F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116195"/>
            <a:ext cx="8291675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Methodology Overview &amp;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F3D9B4-3361-2F9B-D5BD-71BA47B6C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372" y="235974"/>
            <a:ext cx="3413628" cy="6256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E57D70-C562-A330-748A-40CC634D60D3}"/>
              </a:ext>
            </a:extLst>
          </p:cNvPr>
          <p:cNvSpPr txBox="1"/>
          <p:nvPr/>
        </p:nvSpPr>
        <p:spPr>
          <a:xfrm>
            <a:off x="604684" y="1179871"/>
            <a:ext cx="806736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Data Ingestion &amp; Synchronization:</a:t>
            </a:r>
            <a:r>
              <a:rPr lang="en-IN" sz="2800" dirty="0"/>
              <a:t> Timestamp validation of Camera, GPS, and IMU.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Sensor Quality Assessment (SQA):</a:t>
            </a:r>
            <a:r>
              <a:rPr lang="en-IN" sz="2800" dirty="0"/>
              <a:t> Real-time extraction of sensory health indicators.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Sensor Confidence Index (SCI):</a:t>
            </a:r>
            <a:r>
              <a:rPr lang="en-IN" sz="2800" dirty="0"/>
              <a:t> Unified scalar quantification of sensing environment quality.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Adaptive Weight Estimation (AWE):</a:t>
            </a:r>
            <a:r>
              <a:rPr lang="en-IN" sz="2800" dirty="0"/>
              <a:t> Dynamic weight redistribution based on reliability.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Adaptive Extended Kalman Filter (AEKF):</a:t>
            </a:r>
            <a:r>
              <a:rPr lang="en-IN" sz="2800" dirty="0"/>
              <a:t> Confidence-scaled measurement covariance update.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Reliability Prediction:</a:t>
            </a:r>
            <a:r>
              <a:rPr lang="en-IN" sz="2800" dirty="0"/>
              <a:t> Machine learning regression to predict localization uncertainty.</a:t>
            </a:r>
          </a:p>
        </p:txBody>
      </p:sp>
    </p:spTree>
    <p:extLst>
      <p:ext uri="{BB962C8B-B14F-4D97-AF65-F5344CB8AC3E}">
        <p14:creationId xmlns:p14="http://schemas.microsoft.com/office/powerpoint/2010/main" val="848685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85D377-E894-2233-3CFD-19B73B1E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142" y="550086"/>
            <a:ext cx="4345858" cy="54303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BCFA26-9B82-AD6D-220A-708F23E5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84"/>
            <a:ext cx="7538884" cy="1325563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Sensor Quality Assessment (SQA)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E3A7E-68A8-4C0D-0D5D-8FFBE335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46"/>
            <a:ext cx="7317658" cy="5322453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Camera Quality Assessment (CQA) (7 Metrics):</a:t>
            </a:r>
            <a:endParaRPr lang="en-IN" sz="2400" dirty="0"/>
          </a:p>
          <a:p>
            <a:pPr lvl="1"/>
            <a:r>
              <a:rPr lang="en-IN" sz="2000" dirty="0"/>
              <a:t>Brightness, Contrast, Blur Level (Laplacian variance), Image Entropy, Edge Density (Canny), Dynamic Range, and Image Noise.</a:t>
            </a:r>
          </a:p>
          <a:p>
            <a:pPr lvl="0"/>
            <a:r>
              <a:rPr lang="en-IN" sz="2400" b="1" dirty="0"/>
              <a:t>GPS Quality Assessment (GQA) (5 Indicators):</a:t>
            </a:r>
            <a:endParaRPr lang="en-IN" sz="2400" dirty="0"/>
          </a:p>
          <a:p>
            <a:pPr lvl="1"/>
            <a:r>
              <a:rPr lang="en-IN" sz="2000" dirty="0"/>
              <a:t>Number of Satellites, Position Dilution of Precision (PDOP / HDOP / VDOP), and GPS Position Variance.</a:t>
            </a:r>
          </a:p>
          <a:p>
            <a:pPr lvl="0"/>
            <a:r>
              <a:rPr lang="en-IN" sz="2400" b="1" dirty="0"/>
              <a:t>IMU Quality Assessment (IQA) (4 Indicators):</a:t>
            </a:r>
            <a:endParaRPr lang="en-IN" sz="2400" dirty="0"/>
          </a:p>
          <a:p>
            <a:pPr lvl="1"/>
            <a:r>
              <a:rPr lang="en-IN" sz="2000" dirty="0"/>
              <a:t>Accelerometer Noise/Variance, Gyroscope Drift, Motion Consistency, and High-Frequency Vibration.</a:t>
            </a:r>
          </a:p>
          <a:p>
            <a:pPr lvl="0"/>
            <a:r>
              <a:rPr lang="en-IN" sz="2400" b="1" dirty="0"/>
              <a:t>Normalization:</a:t>
            </a:r>
            <a:r>
              <a:rPr lang="en-IN" sz="2400" dirty="0"/>
              <a:t> All metrics are normalized to $[0, 1]$ to ensure uniform scaling across heterogeneous sensor dimensions.</a:t>
            </a:r>
          </a:p>
        </p:txBody>
      </p:sp>
    </p:spTree>
    <p:extLst>
      <p:ext uri="{BB962C8B-B14F-4D97-AF65-F5344CB8AC3E}">
        <p14:creationId xmlns:p14="http://schemas.microsoft.com/office/powerpoint/2010/main" val="36914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22F8-BBB5-F817-CE82-A8C01981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581" y="217641"/>
            <a:ext cx="6771968" cy="785249"/>
          </a:xfrm>
        </p:spPr>
        <p:txBody>
          <a:bodyPr>
            <a:normAutofit/>
          </a:bodyPr>
          <a:lstStyle/>
          <a:p>
            <a:r>
              <a:rPr lang="en-IN" b="1" dirty="0"/>
              <a:t>Sensor Confidence Index (SCI)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F1E48-3B2C-A7C2-9147-F18647CB2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3" y="1238863"/>
            <a:ext cx="5003044" cy="39525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045ACE-5595-13FD-1780-6F8BB3BC0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699" y="1354468"/>
            <a:ext cx="7017418" cy="372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09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2208-49EE-4609-AA33-AF38CD04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87" y="362154"/>
            <a:ext cx="7155426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Adaptive Weight Estimation (AWE)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01427A-26C0-9880-36B6-C2CBF2BF4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803867" y="2290483"/>
            <a:ext cx="5811024" cy="3229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E6556B-B91B-FC04-0676-52CE7B17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276" y="1330448"/>
            <a:ext cx="768774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3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D2A634-4B61-E314-7287-7DA7C829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1022042"/>
            <a:ext cx="3775587" cy="5663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F6F7F5-9A55-76B9-87FF-B5DE27166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293" y="340032"/>
            <a:ext cx="4987413" cy="68201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Confidence-Aware AEKF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472100-CF98-DE32-F1CC-3958C2C8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" b="34543"/>
          <a:stretch>
            <a:fillRect/>
          </a:stretch>
        </p:blipFill>
        <p:spPr>
          <a:xfrm>
            <a:off x="4576229" y="1630270"/>
            <a:ext cx="7196064" cy="359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0E83-AD42-516F-DFEA-D21880AC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655" y="103239"/>
            <a:ext cx="7022690" cy="755752"/>
          </a:xfrm>
        </p:spPr>
        <p:txBody>
          <a:bodyPr/>
          <a:lstStyle/>
          <a:p>
            <a:pPr algn="ctr"/>
            <a:r>
              <a:rPr lang="en-IN" b="1" dirty="0"/>
              <a:t>ML-Based Reliability Prediction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7427A-08BC-2444-4DC2-4AD616EC6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992"/>
            <a:ext cx="5594576" cy="5895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A99A9-0725-2361-6C8A-EFDE299D6D06}"/>
              </a:ext>
            </a:extLst>
          </p:cNvPr>
          <p:cNvSpPr txBox="1"/>
          <p:nvPr/>
        </p:nvSpPr>
        <p:spPr>
          <a:xfrm>
            <a:off x="5467964" y="4200216"/>
            <a:ext cx="67240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ML Regressor Models</a:t>
            </a:r>
          </a:p>
          <a:p>
            <a:pPr>
              <a:buNone/>
            </a:pPr>
            <a:r>
              <a:rPr lang="en-IN" sz="1600" dirty="0"/>
              <a:t>Three regression models are evaluated for predicting localization uncertainty: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Extra Trees Regressor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Random Forest Regressor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Gradient Boosting Regressor</a:t>
            </a:r>
            <a:endParaRPr lang="en-IN" sz="1600" dirty="0"/>
          </a:p>
          <a:p>
            <a:pPr>
              <a:buNone/>
            </a:pPr>
            <a:r>
              <a:rPr lang="en-IN" sz="1600" b="1" dirty="0"/>
              <a:t>Cross-Validation</a:t>
            </a:r>
          </a:p>
          <a:p>
            <a:pPr>
              <a:buNone/>
            </a:pPr>
            <a:r>
              <a:rPr lang="en-IN" sz="1600" b="1" dirty="0"/>
              <a:t>Leave-One-Drive-Out (LODO)</a:t>
            </a:r>
            <a:r>
              <a:rPr lang="en-IN" sz="1600" dirty="0"/>
              <a:t> cross-validation is performed across all </a:t>
            </a:r>
            <a:r>
              <a:rPr lang="en-IN" sz="1600" b="1" dirty="0"/>
              <a:t>9 KITTI sequences</a:t>
            </a:r>
            <a:r>
              <a:rPr lang="en-IN" sz="1600" dirty="0"/>
              <a:t>, comprising </a:t>
            </a:r>
            <a:r>
              <a:rPr lang="en-IN" sz="1600" b="1" dirty="0"/>
              <a:t>2,472 frames</a:t>
            </a:r>
            <a:r>
              <a:rPr lang="en-IN" sz="1600" dirty="0"/>
              <a:t>. In each iteration, one complete drive sequence is held out for testing while the remaining sequences are used for training.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95552E-2359-3774-15FE-D5C9F84A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576" y="788850"/>
            <a:ext cx="6395863" cy="346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5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AB9D-0C68-7432-2461-C0C1654C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197" y="185173"/>
            <a:ext cx="7789606" cy="991727"/>
          </a:xfrm>
        </p:spPr>
        <p:txBody>
          <a:bodyPr/>
          <a:lstStyle/>
          <a:p>
            <a:r>
              <a:rPr lang="en-IN" b="1" dirty="0"/>
              <a:t>Trajectory &amp; Localization Accuracy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057E8-612A-3B71-BFD5-94422DD1F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64" y="1383174"/>
            <a:ext cx="5226607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6D16F-5C4D-D7C7-D91E-3F4E4A99FCEC}"/>
              </a:ext>
            </a:extLst>
          </p:cNvPr>
          <p:cNvSpPr txBox="1"/>
          <p:nvPr/>
        </p:nvSpPr>
        <p:spPr>
          <a:xfrm>
            <a:off x="5346670" y="1720164"/>
            <a:ext cx="67252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Quantitative Performance on KITTI Benchmark: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CAMSF (Proposed):</a:t>
            </a:r>
            <a:r>
              <a:rPr lang="en-IN" sz="2000" dirty="0"/>
              <a:t> RMSE = 2.48 m | MAE = 1.88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Fixed-Weight Baseline:</a:t>
            </a:r>
            <a:r>
              <a:rPr lang="en-IN" sz="2000" dirty="0"/>
              <a:t> RMSE = 2.95 m | MAE = 2.19 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Error Reduction:</a:t>
            </a:r>
            <a:r>
              <a:rPr lang="en-IN" sz="2000" dirty="0"/>
              <a:t> 15.8% improvement in localization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GPS Outage Resilience:</a:t>
            </a:r>
            <a:r>
              <a:rPr lang="en-IN" sz="2000" dirty="0"/>
              <a:t> Maintained a smooth, continuous trajectory even during severe 33-frame GPS dropouts.</a:t>
            </a:r>
          </a:p>
        </p:txBody>
      </p:sp>
    </p:spTree>
    <p:extLst>
      <p:ext uri="{BB962C8B-B14F-4D97-AF65-F5344CB8AC3E}">
        <p14:creationId xmlns:p14="http://schemas.microsoft.com/office/powerpoint/2010/main" val="3899867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1831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Confidence-Driven Adaptive Multi-Sensor Fusion Framework for Robust Autonomous Vehicle Localization</vt:lpstr>
      <vt:lpstr>Introduction</vt:lpstr>
      <vt:lpstr>Problem Statement &amp; Research Gap</vt:lpstr>
      <vt:lpstr>Objectives</vt:lpstr>
      <vt:lpstr>Base Paper</vt:lpstr>
      <vt:lpstr>Dataset</vt:lpstr>
      <vt:lpstr>References</vt:lpstr>
      <vt:lpstr>PowerPoint Presentation</vt:lpstr>
      <vt:lpstr>Methodology Overview &amp; Architecture</vt:lpstr>
      <vt:lpstr>Sensor Quality Assessment (SQA)</vt:lpstr>
      <vt:lpstr>Sensor Confidence Index (SCI)</vt:lpstr>
      <vt:lpstr>Adaptive Weight Estimation (AWE)</vt:lpstr>
      <vt:lpstr>Confidence-Aware AEKF</vt:lpstr>
      <vt:lpstr>ML-Based Reliability Prediction</vt:lpstr>
      <vt:lpstr>Trajectory &amp; Localization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k</dc:creator>
  <cp:lastModifiedBy>vishwa k</cp:lastModifiedBy>
  <cp:revision>6</cp:revision>
  <dcterms:created xsi:type="dcterms:W3CDTF">2026-08-13T12:58:18Z</dcterms:created>
  <dcterms:modified xsi:type="dcterms:W3CDTF">2026-10-08T17:02:58Z</dcterms:modified>
</cp:coreProperties>
</file>